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97" r:id="rId2"/>
    <p:sldId id="298" r:id="rId3"/>
    <p:sldId id="299" r:id="rId4"/>
    <p:sldId id="300" r:id="rId5"/>
    <p:sldId id="301" r:id="rId6"/>
    <p:sldId id="303" r:id="rId7"/>
    <p:sldId id="304" r:id="rId8"/>
    <p:sldId id="305" r:id="rId9"/>
    <p:sldId id="268" r:id="rId1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BB70FF-CC4B-0AA1-1A0D-C8E424621943}" v="624" dt="2026-02-27T12:32:48.911"/>
    <p1510:client id="{A4AF8366-8D23-8A79-6C4D-FC9B8B7B5355}" v="473" dt="2026-02-27T12:53:27.35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40404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40404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80501" y="125369"/>
            <a:ext cx="11727553" cy="521293"/>
          </a:xfrm>
        </p:spPr>
        <p:txBody>
          <a:bodyPr>
            <a:normAutofit/>
          </a:bodyPr>
          <a:lstStyle>
            <a:lvl1pPr>
              <a:defRPr sz="2800">
                <a:solidFill>
                  <a:srgbClr val="43495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12209" y="999855"/>
            <a:ext cx="6564606" cy="5074556"/>
          </a:xfrm>
        </p:spPr>
        <p:txBody>
          <a:bodyPr>
            <a:normAutofit/>
          </a:bodyPr>
          <a:lstStyle>
            <a:lvl1pPr marL="0" indent="0" algn="just">
              <a:lnSpc>
                <a:spcPct val="150000"/>
              </a:lnSpc>
              <a:spcAft>
                <a:spcPts val="1200"/>
              </a:spcAft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457200" indent="0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3"/>
          </p:nvPr>
        </p:nvSpPr>
        <p:spPr>
          <a:xfrm>
            <a:off x="7059613" y="1003776"/>
            <a:ext cx="4665662" cy="2476500"/>
          </a:xfrm>
        </p:spPr>
        <p:txBody>
          <a:bodyPr/>
          <a:lstStyle/>
          <a:p>
            <a:endParaRPr lang="en-US"/>
          </a:p>
        </p:txBody>
      </p:sp>
      <p:sp>
        <p:nvSpPr>
          <p:cNvPr id="16" name="Picture Placeholder 14"/>
          <p:cNvSpPr>
            <a:spLocks noGrp="1"/>
          </p:cNvSpPr>
          <p:nvPr>
            <p:ph type="pic" sz="quarter" idx="14"/>
          </p:nvPr>
        </p:nvSpPr>
        <p:spPr>
          <a:xfrm>
            <a:off x="7068159" y="3632095"/>
            <a:ext cx="4665662" cy="2476500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34445" y="6356350"/>
            <a:ext cx="2743200" cy="365125"/>
          </a:xfrm>
        </p:spPr>
        <p:txBody>
          <a:bodyPr/>
          <a:lstStyle/>
          <a:p>
            <a:fld id="{00961DD0-A2FC-4C2F-9AC4-EA8257030C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304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erson holding a paper&#10;&#10;Description automatically generated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8" y="0"/>
            <a:ext cx="12180732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3047" y="3898404"/>
            <a:ext cx="7355080" cy="428966"/>
          </a:xfrm>
        </p:spPr>
        <p:txBody>
          <a:bodyPr anchor="b">
            <a:noAutofit/>
          </a:bodyPr>
          <a:lstStyle>
            <a:lvl1pPr algn="l">
              <a:defRPr sz="3000">
                <a:solidFill>
                  <a:srgbClr val="EEB91D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61DD0-A2FC-4C2F-9AC4-EA8257030C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212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165099"/>
            <a:ext cx="12192000" cy="66928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238490" y="1086802"/>
            <a:ext cx="3222625" cy="1395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42659" y="1082421"/>
            <a:ext cx="5876290" cy="30772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40404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ntecinfra.com/" TargetMode="External"/><Relationship Id="rId7" Type="http://schemas.openxmlformats.org/officeDocument/2006/relationships/image" Target="../media/image16.png"/><Relationship Id="rId2" Type="http://schemas.openxmlformats.org/officeDocument/2006/relationships/hyperlink" Target="mailto:inquiry@intecinfra.com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hyperlink" Target="http://www.intecamericas.us/" TargetMode="External"/><Relationship Id="rId4" Type="http://schemas.openxmlformats.org/officeDocument/2006/relationships/hyperlink" Target="mailto:inquiry@intecamericas.u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10845" y="3709670"/>
            <a:ext cx="6790055" cy="772795"/>
          </a:xfrm>
          <a:prstGeom prst="rect">
            <a:avLst/>
          </a:prstGeom>
          <a:solidFill>
            <a:srgbClr val="EDB9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800" err="1">
                <a:solidFill>
                  <a:schemeClr val="tx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ea typeface="Verdana"/>
              </a:rPr>
              <a:t>Undestanding</a:t>
            </a:r>
            <a:r>
              <a:rPr lang="en-US" sz="2800">
                <a:solidFill>
                  <a:schemeClr val="tx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ea typeface="Verdana"/>
              </a:rPr>
              <a:t> Autodesk APS and Automation API</a:t>
            </a:r>
            <a:endParaRPr lang="en-US" sz="2800">
              <a:solidFill>
                <a:schemeClr val="tx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ea typeface="Verdana" panose="020B0604030504040204" pitchFamily="34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61DD0-A2FC-4C2F-9AC4-EA8257030CB7}" type="slidenum">
              <a:rPr lang="en-US" smtClean="0"/>
              <a:t>1</a:t>
            </a:fld>
            <a:endParaRPr lang="en-US"/>
          </a:p>
        </p:txBody>
      </p:sp>
      <p:sp>
        <p:nvSpPr>
          <p:cNvPr id="2" name="Rectangle 3"/>
          <p:cNvSpPr/>
          <p:nvPr/>
        </p:nvSpPr>
        <p:spPr>
          <a:xfrm>
            <a:off x="410845" y="5708015"/>
            <a:ext cx="6790055" cy="516255"/>
          </a:xfrm>
          <a:prstGeom prst="rect">
            <a:avLst/>
          </a:prstGeom>
          <a:solidFill>
            <a:srgbClr val="EDB9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altLang="en-US" sz="2800">
                <a:solidFill>
                  <a:schemeClr val="tx1">
                    <a:lumMod val="85000"/>
                    <a:lumOff val="15000"/>
                  </a:schemeClr>
                </a:solidFill>
                <a:ea typeface="Verdana"/>
              </a:rPr>
              <a:t>BY- Ayush Dhingra </a:t>
            </a:r>
            <a:endParaRPr lang="en-US" altLang="en-US" sz="2800">
              <a:solidFill>
                <a:schemeClr val="tx1">
                  <a:lumMod val="85000"/>
                  <a:lumOff val="15000"/>
                </a:schemeClr>
              </a:solidFill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6715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5F920-D57A-7922-E7BF-66C26647A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77006-25D2-D998-0D7D-92E510D0E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t">
            <a:normAutofit/>
          </a:bodyPr>
          <a:lstStyle/>
          <a:p>
            <a:r>
              <a:rPr lang="en-US" sz="2750">
                <a:latin typeface="Arial Narrow"/>
                <a:ea typeface="Lato"/>
                <a:cs typeface="Lato"/>
              </a:rPr>
              <a:t>Design Automation Tools </a:t>
            </a:r>
            <a:endParaRPr lang="en-US" sz="2750">
              <a:latin typeface="Arial Narrow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186B4-9235-CC65-ADB4-4F1A38A25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61DD0-A2FC-4C2F-9AC4-EA8257030CB7}" type="slidenum">
              <a:rPr lang="en-US" smtClean="0"/>
              <a:t>2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FC709D-6601-0BFC-FFF6-4D5C07002675}"/>
              </a:ext>
            </a:extLst>
          </p:cNvPr>
          <p:cNvSpPr txBox="1"/>
          <p:nvPr/>
        </p:nvSpPr>
        <p:spPr>
          <a:xfrm>
            <a:off x="183497" y="957572"/>
            <a:ext cx="7754476" cy="37548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latin typeface="Arial Narrow"/>
                <a:ea typeface="+mn-lt"/>
                <a:cs typeface="+mn-lt"/>
              </a:rPr>
              <a:t>A utility tool for managing APS Design Automation components — allowing you to create, edit, and organize </a:t>
            </a:r>
            <a:r>
              <a:rPr lang="en-US" sz="1400" err="1">
                <a:latin typeface="Arial Narrow"/>
                <a:ea typeface="+mn-lt"/>
                <a:cs typeface="+mn-lt"/>
              </a:rPr>
              <a:t>AppBundles</a:t>
            </a:r>
            <a:r>
              <a:rPr lang="en-US" sz="1400">
                <a:latin typeface="Arial Narrow"/>
                <a:ea typeface="+mn-lt"/>
                <a:cs typeface="+mn-lt"/>
              </a:rPr>
              <a:t>, Activities, and </a:t>
            </a:r>
            <a:r>
              <a:rPr lang="en-US" sz="1400" err="1">
                <a:latin typeface="Arial Narrow"/>
                <a:ea typeface="+mn-lt"/>
                <a:cs typeface="+mn-lt"/>
              </a:rPr>
              <a:t>WorkItems</a:t>
            </a:r>
            <a:r>
              <a:rPr lang="en-US" sz="1400">
                <a:latin typeface="Arial Narrow"/>
                <a:ea typeface="+mn-lt"/>
                <a:cs typeface="+mn-lt"/>
              </a:rPr>
              <a:t>, including generating new versions and aliases</a:t>
            </a:r>
          </a:p>
          <a:p>
            <a:endParaRPr lang="en-US" sz="1400" b="1">
              <a:latin typeface="Arial Narrow"/>
            </a:endParaRPr>
          </a:p>
          <a:p>
            <a:r>
              <a:rPr lang="en-US" sz="1400" b="1">
                <a:latin typeface="Arial Narrow"/>
                <a:ea typeface="+mn-lt"/>
                <a:cs typeface="+mn-lt"/>
              </a:rPr>
              <a:t>Purpose:</a:t>
            </a:r>
            <a:endParaRPr lang="en-US" sz="1400" b="1">
              <a:latin typeface="Arial Narrow"/>
            </a:endParaRPr>
          </a:p>
          <a:p>
            <a:r>
              <a:rPr lang="en-US" sz="1400">
                <a:latin typeface="Arial Narrow"/>
                <a:ea typeface="+mn-lt"/>
                <a:cs typeface="+mn-lt"/>
              </a:rPr>
              <a:t>Automate tasks on Revit, AutoCAD, Inventor, and Fusion files using APS cloud engines.</a:t>
            </a:r>
            <a:endParaRPr lang="en-US" sz="1400">
              <a:latin typeface="Arial Narrow"/>
            </a:endParaRPr>
          </a:p>
          <a:p>
            <a:endParaRPr lang="en-US" sz="1400" b="1">
              <a:latin typeface="Arial Narrow"/>
            </a:endParaRPr>
          </a:p>
          <a:p>
            <a:r>
              <a:rPr lang="en-US" sz="1400" b="1">
                <a:latin typeface="Arial Narrow"/>
                <a:ea typeface="+mn-lt"/>
                <a:cs typeface="+mn-lt"/>
              </a:rPr>
              <a:t>Real‑Life Use:</a:t>
            </a:r>
            <a:endParaRPr lang="en-US" sz="1400" b="1">
              <a:latin typeface="Arial Narrow"/>
            </a:endParaRPr>
          </a:p>
          <a:p>
            <a:pPr marL="342900" indent="-342900">
              <a:buAutoNum type="arabicPeriod"/>
            </a:pPr>
            <a:r>
              <a:rPr lang="en-US" sz="1400">
                <a:latin typeface="Arial Narrow"/>
                <a:ea typeface="+mn-lt"/>
                <a:cs typeface="+mn-lt"/>
              </a:rPr>
              <a:t>Auto‑generate PDFs/DWGs</a:t>
            </a:r>
            <a:endParaRPr lang="en-US" sz="1400">
              <a:latin typeface="Arial Narrow"/>
            </a:endParaRPr>
          </a:p>
          <a:p>
            <a:pPr marL="342900" indent="-342900">
              <a:buAutoNum type="arabicPeriod"/>
            </a:pPr>
            <a:r>
              <a:rPr lang="en-US" sz="1400">
                <a:latin typeface="Arial Narrow"/>
                <a:ea typeface="+mn-lt"/>
                <a:cs typeface="+mn-lt"/>
              </a:rPr>
              <a:t>Batch process drawings</a:t>
            </a:r>
            <a:endParaRPr lang="en-US" sz="1400">
              <a:latin typeface="Arial Narrow"/>
            </a:endParaRPr>
          </a:p>
          <a:p>
            <a:pPr marL="342900" indent="-342900">
              <a:buAutoNum type="arabicPeriod"/>
            </a:pPr>
            <a:r>
              <a:rPr lang="en-US" sz="1400">
                <a:latin typeface="Arial Narrow"/>
                <a:ea typeface="+mn-lt"/>
                <a:cs typeface="+mn-lt"/>
              </a:rPr>
              <a:t>Update parameters or run custom scripts</a:t>
            </a:r>
            <a:endParaRPr lang="en-US" sz="1400">
              <a:latin typeface="Arial Narrow"/>
            </a:endParaRPr>
          </a:p>
          <a:p>
            <a:pPr marL="342900" indent="-342900">
              <a:buAutoNum type="arabicPeriod"/>
            </a:pPr>
            <a:r>
              <a:rPr lang="en-US" sz="1400">
                <a:latin typeface="Arial Narrow"/>
                <a:ea typeface="+mn-lt"/>
                <a:cs typeface="+mn-lt"/>
              </a:rPr>
              <a:t>Modify files without opening desktop apps</a:t>
            </a:r>
            <a:endParaRPr lang="en-US" sz="1400">
              <a:latin typeface="Arial Narrow"/>
            </a:endParaRPr>
          </a:p>
          <a:p>
            <a:endParaRPr lang="en-US" sz="1400">
              <a:latin typeface="Arial Narrow"/>
            </a:endParaRPr>
          </a:p>
          <a:p>
            <a:r>
              <a:rPr lang="en-US" sz="1400" b="1">
                <a:latin typeface="Arial Narrow"/>
                <a:ea typeface="+mn-lt"/>
                <a:cs typeface="+mn-lt"/>
              </a:rPr>
              <a:t>Benefits:</a:t>
            </a:r>
            <a:endParaRPr lang="en-US" sz="1400" b="1">
              <a:latin typeface="Arial Narrow"/>
            </a:endParaRPr>
          </a:p>
          <a:p>
            <a:pPr marL="342900" indent="-342900">
              <a:buAutoNum type="arabicPeriod"/>
            </a:pPr>
            <a:r>
              <a:rPr lang="en-US" sz="1400">
                <a:latin typeface="Arial Narrow"/>
                <a:ea typeface="+mn-lt"/>
                <a:cs typeface="+mn-lt"/>
              </a:rPr>
              <a:t>Saves time</a:t>
            </a:r>
            <a:endParaRPr lang="en-US" sz="1400">
              <a:latin typeface="Arial Narrow"/>
            </a:endParaRPr>
          </a:p>
          <a:p>
            <a:pPr marL="342900" indent="-342900">
              <a:buAutoNum type="arabicPeriod"/>
            </a:pPr>
            <a:r>
              <a:rPr lang="en-US" sz="1400">
                <a:latin typeface="Arial Narrow"/>
                <a:ea typeface="+mn-lt"/>
                <a:cs typeface="+mn-lt"/>
              </a:rPr>
              <a:t>Reduces manual errors</a:t>
            </a:r>
            <a:endParaRPr lang="en-US" sz="1400">
              <a:latin typeface="Arial Narrow"/>
            </a:endParaRPr>
          </a:p>
          <a:p>
            <a:pPr marL="342900" indent="-342900">
              <a:buAutoNum type="arabicPeriod"/>
            </a:pPr>
            <a:r>
              <a:rPr lang="en-US" sz="1400">
                <a:latin typeface="Arial Narrow"/>
                <a:ea typeface="+mn-lt"/>
                <a:cs typeface="+mn-lt"/>
              </a:rPr>
              <a:t>Scales across large projects</a:t>
            </a:r>
            <a:endParaRPr lang="en-US" sz="1400">
              <a:latin typeface="Arial Narrow"/>
            </a:endParaRPr>
          </a:p>
          <a:p>
            <a:pPr marL="342900" indent="-342900">
              <a:buAutoNum type="arabicPeriod"/>
            </a:pPr>
            <a:r>
              <a:rPr lang="en-US" sz="1400">
                <a:latin typeface="Arial Narrow"/>
                <a:ea typeface="+mn-lt"/>
                <a:cs typeface="+mn-lt"/>
              </a:rPr>
              <a:t>No CAD software needed on the machine</a:t>
            </a:r>
            <a:endParaRPr lang="en-US">
              <a:latin typeface="Arial Narrow"/>
            </a:endParaRPr>
          </a:p>
        </p:txBody>
      </p:sp>
      <p:pic>
        <p:nvPicPr>
          <p:cNvPr id="8" name="Picture 7" descr="A screenshot of a computer">
            <a:extLst>
              <a:ext uri="{FF2B5EF4-FFF2-40B4-BE49-F238E27FC236}">
                <a16:creationId xmlns:a16="http://schemas.microsoft.com/office/drawing/2014/main" id="{BBC1FF05-C071-1F52-BEFF-42F2CB125A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8674" y="1765971"/>
            <a:ext cx="5455954" cy="400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885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430EB-0BBF-894C-D0C0-DF76358FA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t">
            <a:normAutofit/>
          </a:bodyPr>
          <a:lstStyle/>
          <a:p>
            <a:r>
              <a:rPr lang="en-US"/>
              <a:t>Secure Login &amp; Authentication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2F77ED-283D-C368-6B84-DB1EA8E0FE3D}"/>
              </a:ext>
            </a:extLst>
          </p:cNvPr>
          <p:cNvSpPr txBox="1"/>
          <p:nvPr/>
        </p:nvSpPr>
        <p:spPr>
          <a:xfrm>
            <a:off x="182801" y="837975"/>
            <a:ext cx="5151649" cy="11695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400">
                <a:latin typeface="Arial Narrow"/>
              </a:rPr>
              <a:t>What is happening on this screen?</a:t>
            </a:r>
            <a:endParaRPr lang="en-US" sz="1400">
              <a:solidFill>
                <a:srgbClr val="000000"/>
              </a:solidFill>
              <a:latin typeface="Arial Narrow"/>
            </a:endParaRPr>
          </a:p>
          <a:p>
            <a:pPr algn="l"/>
            <a:endParaRPr lang="en-US" sz="1400" dirty="0">
              <a:latin typeface="Arial Narrow"/>
            </a:endParaRPr>
          </a:p>
          <a:p>
            <a:pPr algn="l"/>
            <a:r>
              <a:rPr lang="en-US" sz="1400">
                <a:latin typeface="Arial Narrow"/>
              </a:rPr>
              <a:t>We enter </a:t>
            </a:r>
            <a:r>
              <a:rPr lang="en-US" sz="1400" b="1">
                <a:latin typeface="Arial Narrow"/>
              </a:rPr>
              <a:t>Client ID</a:t>
            </a:r>
            <a:r>
              <a:rPr lang="en-US" sz="1400">
                <a:latin typeface="Arial Narrow"/>
              </a:rPr>
              <a:t> </a:t>
            </a:r>
            <a:endParaRPr lang="en-US" sz="1400" dirty="0">
              <a:latin typeface="Arial Narrow"/>
            </a:endParaRPr>
          </a:p>
          <a:p>
            <a:pPr algn="l"/>
            <a:r>
              <a:rPr lang="en-US" sz="1400">
                <a:latin typeface="Arial Narrow"/>
              </a:rPr>
              <a:t>We enter </a:t>
            </a:r>
            <a:r>
              <a:rPr lang="en-US" sz="1400" b="1">
                <a:latin typeface="Arial Narrow"/>
              </a:rPr>
              <a:t>Client Secret </a:t>
            </a:r>
            <a:endParaRPr lang="en-US" sz="1400" b="1" dirty="0">
              <a:latin typeface="Arial Narrow"/>
            </a:endParaRPr>
          </a:p>
          <a:p>
            <a:pPr algn="l"/>
            <a:r>
              <a:rPr lang="en-US" sz="1400">
                <a:latin typeface="Arial Narrow"/>
              </a:rPr>
              <a:t>Then click </a:t>
            </a:r>
            <a:r>
              <a:rPr lang="en-US" sz="1400" b="1">
                <a:latin typeface="Arial Narrow"/>
              </a:rPr>
              <a:t>Log In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34CDA9-6C81-FF18-03B4-118EF216DCCD}"/>
              </a:ext>
            </a:extLst>
          </p:cNvPr>
          <p:cNvSpPr txBox="1"/>
          <p:nvPr/>
        </p:nvSpPr>
        <p:spPr>
          <a:xfrm>
            <a:off x="182986" y="2120280"/>
            <a:ext cx="1629093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400" b="1">
                <a:latin typeface="Arial Narrow"/>
              </a:rPr>
              <a:t>Importance</a:t>
            </a:r>
            <a:endParaRPr lang="en-US" sz="1400" b="1">
              <a:solidFill>
                <a:srgbClr val="000000"/>
              </a:solidFill>
              <a:latin typeface="Arial Narrow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7E40E7-C4DB-C76D-EFE6-147EC8409877}"/>
              </a:ext>
            </a:extLst>
          </p:cNvPr>
          <p:cNvSpPr txBox="1"/>
          <p:nvPr/>
        </p:nvSpPr>
        <p:spPr>
          <a:xfrm>
            <a:off x="185590" y="2537965"/>
            <a:ext cx="6252001" cy="46166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400" b="1" dirty="0">
                <a:latin typeface="Arial Narrow"/>
              </a:rPr>
              <a:t>Security First</a:t>
            </a:r>
            <a:r>
              <a:rPr lang="en-US" sz="1400" dirty="0">
                <a:latin typeface="Arial Narrow"/>
              </a:rPr>
              <a:t> </a:t>
            </a:r>
            <a:endParaRPr lang="en-US" sz="1400" dirty="0">
              <a:solidFill>
                <a:srgbClr val="000000"/>
              </a:solidFill>
              <a:latin typeface="Arial Narrow"/>
            </a:endParaRPr>
          </a:p>
          <a:p>
            <a:pPr algn="l"/>
            <a:r>
              <a:rPr lang="en-US" sz="1400">
                <a:latin typeface="Arial Narrow"/>
              </a:rPr>
              <a:t>Client ID = Like a username for the application</a:t>
            </a:r>
            <a:endParaRPr lang="en-US" sz="1400" dirty="0">
              <a:latin typeface="Arial Narrow"/>
            </a:endParaRPr>
          </a:p>
          <a:p>
            <a:pPr algn="l"/>
            <a:r>
              <a:rPr lang="en-US" sz="1400">
                <a:latin typeface="Arial Narrow"/>
              </a:rPr>
              <a:t>Client Secret = Like a password for the application</a:t>
            </a:r>
            <a:endParaRPr lang="en-US" sz="1400" dirty="0">
              <a:latin typeface="Arial Narrow"/>
            </a:endParaRPr>
          </a:p>
          <a:p>
            <a:pPr algn="l"/>
            <a:r>
              <a:rPr lang="en-US" sz="1400" dirty="0">
                <a:latin typeface="Arial Narrow"/>
              </a:rPr>
              <a:t>Ensures only authorized users can access the </a:t>
            </a:r>
            <a:r>
              <a:rPr lang="en-US" sz="1400">
                <a:latin typeface="Arial Narrow"/>
              </a:rPr>
              <a:t>automation system </a:t>
            </a:r>
            <a:endParaRPr lang="en-US" sz="1400" dirty="0">
              <a:latin typeface="Arial Narrow"/>
            </a:endParaRPr>
          </a:p>
          <a:p>
            <a:pPr algn="l"/>
            <a:endParaRPr lang="en-US" sz="1400" dirty="0">
              <a:latin typeface="Arial Narrow"/>
            </a:endParaRPr>
          </a:p>
          <a:p>
            <a:pPr algn="l"/>
            <a:r>
              <a:rPr lang="en-US" sz="1400" b="1">
                <a:latin typeface="Arial Narrow"/>
              </a:rPr>
              <a:t>Protects Company Data</a:t>
            </a:r>
            <a:r>
              <a:rPr lang="en-US" sz="1400">
                <a:latin typeface="Arial Narrow"/>
              </a:rPr>
              <a:t> </a:t>
            </a:r>
            <a:endParaRPr lang="en-US" sz="1400" dirty="0">
              <a:latin typeface="Arial Narrow"/>
            </a:endParaRPr>
          </a:p>
          <a:p>
            <a:pPr algn="l"/>
            <a:r>
              <a:rPr lang="en-US" sz="1400">
                <a:latin typeface="Arial Narrow"/>
              </a:rPr>
              <a:t>Prevents </a:t>
            </a:r>
            <a:r>
              <a:rPr lang="en-US" sz="1400" dirty="0">
                <a:latin typeface="Arial Narrow"/>
              </a:rPr>
              <a:t>unauthorized access </a:t>
            </a:r>
          </a:p>
          <a:p>
            <a:pPr algn="l"/>
            <a:r>
              <a:rPr lang="en-US" sz="1400">
                <a:latin typeface="Arial Narrow"/>
              </a:rPr>
              <a:t>Keeps design files and </a:t>
            </a:r>
            <a:r>
              <a:rPr lang="en-US" sz="1400" dirty="0">
                <a:latin typeface="Arial Narrow"/>
              </a:rPr>
              <a:t>automation workflows secure </a:t>
            </a:r>
          </a:p>
          <a:p>
            <a:pPr algn="l"/>
            <a:r>
              <a:rPr lang="en-US" sz="1400">
                <a:latin typeface="Arial Narrow"/>
              </a:rPr>
              <a:t>Ensures only approved systems can run </a:t>
            </a:r>
            <a:r>
              <a:rPr lang="en-US" sz="1400" dirty="0">
                <a:latin typeface="Arial Narrow"/>
              </a:rPr>
              <a:t>processes</a:t>
            </a:r>
            <a:endParaRPr lang="en-US"/>
          </a:p>
          <a:p>
            <a:pPr algn="l"/>
            <a:endParaRPr lang="en-US" sz="1400" dirty="0">
              <a:latin typeface="Arial Narrow"/>
            </a:endParaRPr>
          </a:p>
          <a:p>
            <a:pPr algn="l"/>
            <a:r>
              <a:rPr lang="en-US" sz="1400" b="1" dirty="0">
                <a:latin typeface="Arial Narrow"/>
              </a:rPr>
              <a:t>Identity Verification </a:t>
            </a:r>
            <a:endParaRPr lang="en-US" b="1" dirty="0">
              <a:latin typeface="Arial Narrow"/>
            </a:endParaRPr>
          </a:p>
          <a:p>
            <a:pPr algn="l"/>
            <a:r>
              <a:rPr lang="en-US" sz="1400">
                <a:latin typeface="Arial Narrow"/>
              </a:rPr>
              <a:t>Confirms that our application is registered with Autodesk </a:t>
            </a:r>
            <a:endParaRPr lang="en-US">
              <a:latin typeface="Arial Narrow"/>
            </a:endParaRPr>
          </a:p>
          <a:p>
            <a:pPr algn="l"/>
            <a:r>
              <a:rPr lang="en-US" sz="1400">
                <a:latin typeface="Arial Narrow"/>
              </a:rPr>
              <a:t>Verifies that requests are coming from a trusted source</a:t>
            </a:r>
            <a:endParaRPr lang="en-US">
              <a:latin typeface="Arial Narrow"/>
            </a:endParaRPr>
          </a:p>
          <a:p>
            <a:pPr algn="l"/>
            <a:endParaRPr lang="en-US" sz="1400" dirty="0">
              <a:latin typeface="Arial Narrow"/>
            </a:endParaRPr>
          </a:p>
          <a:p>
            <a:pPr algn="l"/>
            <a:r>
              <a:rPr lang="en-US" sz="1400" b="1">
                <a:latin typeface="Arial Narrow"/>
              </a:rPr>
              <a:t>Safe Cloud </a:t>
            </a:r>
            <a:r>
              <a:rPr lang="en-US" sz="1400" b="1" dirty="0">
                <a:latin typeface="Arial Narrow"/>
              </a:rPr>
              <a:t>Communication</a:t>
            </a:r>
            <a:r>
              <a:rPr lang="en-US" sz="1400" dirty="0">
                <a:latin typeface="Arial Narrow"/>
              </a:rPr>
              <a:t> </a:t>
            </a:r>
            <a:endParaRPr lang="en-US">
              <a:latin typeface="Arial Narrow"/>
            </a:endParaRPr>
          </a:p>
          <a:p>
            <a:pPr algn="l"/>
            <a:r>
              <a:rPr lang="en-US" sz="1400">
                <a:latin typeface="Arial Narrow"/>
              </a:rPr>
              <a:t>Creates a secure connection between:</a:t>
            </a:r>
            <a:endParaRPr lang="en-US">
              <a:latin typeface="Arial Narrow"/>
            </a:endParaRPr>
          </a:p>
          <a:p>
            <a:pPr algn="l"/>
            <a:r>
              <a:rPr lang="en-US" sz="1400">
                <a:latin typeface="Arial Narrow"/>
              </a:rPr>
              <a:t>Our Application</a:t>
            </a:r>
            <a:endParaRPr lang="en-US">
              <a:latin typeface="Arial Narrow"/>
            </a:endParaRPr>
          </a:p>
          <a:p>
            <a:pPr algn="l"/>
            <a:r>
              <a:rPr lang="en-US" sz="1400">
                <a:latin typeface="Arial Narrow"/>
              </a:rPr>
              <a:t>Autodesk Cloud</a:t>
            </a:r>
            <a:endParaRPr lang="en-US">
              <a:latin typeface="Arial Narrow"/>
            </a:endParaRPr>
          </a:p>
          <a:p>
            <a:pPr algn="l"/>
            <a:r>
              <a:rPr lang="en-US" sz="1400">
                <a:latin typeface="Arial Narrow"/>
              </a:rPr>
              <a:t>All automation runs under verified identity</a:t>
            </a:r>
            <a:endParaRPr lang="en-US">
              <a:latin typeface="Arial Narrow"/>
            </a:endParaRPr>
          </a:p>
          <a:p>
            <a:pPr algn="l"/>
            <a:endParaRPr lang="en-US" sz="1400" dirty="0">
              <a:latin typeface="Arial Narrow"/>
            </a:endParaRPr>
          </a:p>
          <a:p>
            <a:pPr algn="l"/>
            <a:endParaRPr lang="en-US" sz="1400" dirty="0">
              <a:latin typeface="Arial Narrow"/>
            </a:endParaRPr>
          </a:p>
        </p:txBody>
      </p:sp>
      <p:pic>
        <p:nvPicPr>
          <p:cNvPr id="3" name="Picture 2" descr="A screenshot of a computer">
            <a:extLst>
              <a:ext uri="{FF2B5EF4-FFF2-40B4-BE49-F238E27FC236}">
                <a16:creationId xmlns:a16="http://schemas.microsoft.com/office/drawing/2014/main" id="{6E94D93D-C1D5-CDBF-A2AE-39F3C41B26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8525" y="838200"/>
            <a:ext cx="4941188" cy="3201162"/>
          </a:xfrm>
          <a:prstGeom prst="rect">
            <a:avLst/>
          </a:prstGeom>
        </p:spPr>
      </p:pic>
      <p:pic>
        <p:nvPicPr>
          <p:cNvPr id="4" name="Picture 3" descr="A screenshot of a computer">
            <a:extLst>
              <a:ext uri="{FF2B5EF4-FFF2-40B4-BE49-F238E27FC236}">
                <a16:creationId xmlns:a16="http://schemas.microsoft.com/office/drawing/2014/main" id="{7E8C79C2-D334-E6FE-85A2-4ED07278D6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8525" y="3861667"/>
            <a:ext cx="4943475" cy="2839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2937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E219C-0D98-6F3F-83FB-62D038519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t">
            <a:normAutofit/>
          </a:bodyPr>
          <a:lstStyle/>
          <a:p>
            <a:r>
              <a:rPr lang="en-US" dirty="0"/>
              <a:t>Selecting Automation Script (</a:t>
            </a:r>
            <a:r>
              <a:rPr lang="en-US" dirty="0" err="1"/>
              <a:t>AppBundles</a:t>
            </a:r>
            <a:r>
              <a:rPr lang="en-US" dirty="0"/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FBD649-2846-6381-6572-6D1E9118AF9C}"/>
              </a:ext>
            </a:extLst>
          </p:cNvPr>
          <p:cNvSpPr txBox="1"/>
          <p:nvPr/>
        </p:nvSpPr>
        <p:spPr>
          <a:xfrm>
            <a:off x="181025" y="971745"/>
            <a:ext cx="5780422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400" dirty="0">
                <a:latin typeface="Arial Narrow"/>
              </a:rPr>
              <a:t>An </a:t>
            </a:r>
            <a:r>
              <a:rPr lang="en-US" sz="1400" dirty="0" err="1">
                <a:latin typeface="Arial Narrow"/>
              </a:rPr>
              <a:t>AppBundle</a:t>
            </a:r>
            <a:r>
              <a:rPr lang="en-US" sz="1400" dirty="0">
                <a:latin typeface="Arial Narrow"/>
              </a:rPr>
              <a:t> is a packaged automation script stored in the cloud. </a:t>
            </a:r>
            <a:endParaRPr lang="en-US" sz="1400">
              <a:latin typeface="Arial Narrow"/>
            </a:endParaRPr>
          </a:p>
          <a:p>
            <a:pPr algn="l"/>
            <a:endParaRPr lang="en-US" sz="1400" dirty="0">
              <a:latin typeface="Arial Narrow"/>
            </a:endParaRPr>
          </a:p>
          <a:p>
            <a:pPr algn="l"/>
            <a:r>
              <a:rPr lang="en-US" sz="1400" dirty="0">
                <a:latin typeface="Arial Narrow"/>
              </a:rPr>
              <a:t>Think of it as: </a:t>
            </a:r>
          </a:p>
          <a:p>
            <a:pPr algn="l"/>
            <a:endParaRPr lang="en-US" sz="1400" dirty="0">
              <a:latin typeface="Arial Narrow"/>
            </a:endParaRPr>
          </a:p>
          <a:p>
            <a:pPr algn="l"/>
            <a:r>
              <a:rPr lang="en-US" sz="1400" dirty="0">
                <a:latin typeface="Arial Narrow"/>
              </a:rPr>
              <a:t>📦 </a:t>
            </a:r>
            <a:r>
              <a:rPr lang="en-US" sz="1400">
                <a:latin typeface="Arial Narrow"/>
              </a:rPr>
              <a:t>A ready-made “automation tool” that performs a specific task automatically.</a:t>
            </a:r>
          </a:p>
          <a:p>
            <a:pPr algn="l"/>
            <a:endParaRPr lang="en-US" sz="1400">
              <a:latin typeface="Arial Narrow"/>
            </a:endParaRPr>
          </a:p>
          <a:p>
            <a:pPr algn="l"/>
            <a:r>
              <a:rPr lang="en-US" sz="1400" dirty="0">
                <a:latin typeface="Arial Narrow"/>
              </a:rPr>
              <a:t>Examples: </a:t>
            </a:r>
          </a:p>
          <a:p>
            <a:pPr algn="l"/>
            <a:endParaRPr lang="en-US" sz="1400" dirty="0">
              <a:latin typeface="Arial Narrow"/>
            </a:endParaRPr>
          </a:p>
          <a:p>
            <a:pPr marL="285750" indent="-285750" algn="l">
              <a:buFont typeface="Wingdings"/>
              <a:buChar char="§"/>
            </a:pPr>
            <a:r>
              <a:rPr lang="en-US" sz="1400">
                <a:latin typeface="Arial Narrow"/>
              </a:rPr>
              <a:t>Delete</a:t>
            </a:r>
            <a:r>
              <a:rPr lang="en-US" sz="1400" dirty="0">
                <a:latin typeface="Arial Narrow"/>
              </a:rPr>
              <a:t> walls automatically </a:t>
            </a:r>
            <a:endParaRPr lang="en-US" sz="1400">
              <a:latin typeface="Arial Narrow"/>
            </a:endParaRPr>
          </a:p>
          <a:p>
            <a:pPr marL="285750" indent="-285750" algn="l">
              <a:buFont typeface="Wingdings"/>
              <a:buChar char="§"/>
            </a:pPr>
            <a:r>
              <a:rPr lang="en-US" sz="1400">
                <a:latin typeface="Arial Narrow"/>
              </a:rPr>
              <a:t>Update family parameters </a:t>
            </a:r>
          </a:p>
          <a:p>
            <a:pPr marL="285750" indent="-285750" algn="l">
              <a:buFont typeface="Wingdings"/>
              <a:buChar char="§"/>
            </a:pPr>
            <a:r>
              <a:rPr lang="en-US" sz="1400">
                <a:latin typeface="Arial Narrow"/>
              </a:rPr>
              <a:t>Run a testing script </a:t>
            </a:r>
          </a:p>
          <a:p>
            <a:pPr marL="285750" indent="-285750" algn="l">
              <a:buFont typeface="Wingdings"/>
              <a:buChar char="§"/>
            </a:pPr>
            <a:r>
              <a:rPr lang="en-US" sz="1400">
                <a:latin typeface="Arial Narrow"/>
              </a:rPr>
              <a:t>Modify </a:t>
            </a:r>
            <a:r>
              <a:rPr lang="en-US" sz="1400" dirty="0">
                <a:latin typeface="Arial Narrow"/>
              </a:rPr>
              <a:t>design elements</a:t>
            </a:r>
            <a:endParaRPr lang="en-US" sz="1400">
              <a:solidFill>
                <a:srgbClr val="000000"/>
              </a:solidFill>
              <a:latin typeface="Arial Narrow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EDDBC3-7928-7DEE-B57D-6D7B6EB8E6DA}"/>
              </a:ext>
            </a:extLst>
          </p:cNvPr>
          <p:cNvSpPr txBox="1"/>
          <p:nvPr/>
        </p:nvSpPr>
        <p:spPr>
          <a:xfrm>
            <a:off x="176287" y="4001287"/>
            <a:ext cx="5051617" cy="11695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400">
                <a:solidFill>
                  <a:srgbClr val="000000"/>
                </a:solidFill>
                <a:latin typeface="Arial Narrow"/>
              </a:rPr>
              <a:t>How User Selects Which Script to Run </a:t>
            </a:r>
            <a:endParaRPr lang="en-US" sz="1400" dirty="0">
              <a:solidFill>
                <a:srgbClr val="000000"/>
              </a:solidFill>
              <a:latin typeface="Arial Narrow"/>
            </a:endParaRPr>
          </a:p>
          <a:p>
            <a:pPr algn="l"/>
            <a:endParaRPr lang="en-US" sz="1400" dirty="0">
              <a:solidFill>
                <a:srgbClr val="000000"/>
              </a:solidFill>
              <a:latin typeface="Arial Narrow"/>
            </a:endParaRPr>
          </a:p>
          <a:p>
            <a:pPr algn="l"/>
            <a:r>
              <a:rPr lang="en-US" sz="1400">
                <a:solidFill>
                  <a:srgbClr val="000000"/>
                </a:solidFill>
                <a:latin typeface="Arial Narrow"/>
              </a:rPr>
              <a:t>Choose the required script from the list  </a:t>
            </a:r>
            <a:endParaRPr lang="en-US" sz="1400" dirty="0">
              <a:solidFill>
                <a:srgbClr val="000000"/>
              </a:solidFill>
              <a:latin typeface="Arial Narrow"/>
            </a:endParaRPr>
          </a:p>
          <a:p>
            <a:pPr algn="l"/>
            <a:r>
              <a:rPr lang="en-US" sz="1400">
                <a:solidFill>
                  <a:srgbClr val="000000"/>
                </a:solidFill>
                <a:latin typeface="Arial Narrow"/>
              </a:rPr>
              <a:t>Expand it </a:t>
            </a:r>
            <a:endParaRPr lang="en-US" sz="1400" dirty="0">
              <a:solidFill>
                <a:srgbClr val="000000"/>
              </a:solidFill>
              <a:latin typeface="Arial Narrow"/>
            </a:endParaRPr>
          </a:p>
          <a:p>
            <a:pPr algn="l"/>
            <a:r>
              <a:rPr lang="en-US" sz="1400">
                <a:solidFill>
                  <a:srgbClr val="000000"/>
                </a:solidFill>
                <a:latin typeface="Arial Narrow"/>
              </a:rPr>
              <a:t>Select the correct Alias (like "dev")</a:t>
            </a:r>
            <a:endParaRPr lang="en-US" sz="1400">
              <a:latin typeface="Arial Narrow"/>
            </a:endParaRPr>
          </a:p>
        </p:txBody>
      </p:sp>
      <p:pic>
        <p:nvPicPr>
          <p:cNvPr id="9" name="Picture 8" descr="A screenshot of a computer">
            <a:extLst>
              <a:ext uri="{FF2B5EF4-FFF2-40B4-BE49-F238E27FC236}">
                <a16:creationId xmlns:a16="http://schemas.microsoft.com/office/drawing/2014/main" id="{212FD492-0C1C-08E0-C05B-BD02FD4A4E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3727" y="1323975"/>
            <a:ext cx="5731946" cy="484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0041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2F374-3B88-4FFA-FC05-AD94D7492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t">
            <a:normAutofit/>
          </a:bodyPr>
          <a:lstStyle/>
          <a:p>
            <a:r>
              <a:rPr lang="en-US"/>
              <a:t>Activity – Defining How the Automation Runs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444A19-1022-F5E0-5B69-7AEF21D461F6}"/>
              </a:ext>
            </a:extLst>
          </p:cNvPr>
          <p:cNvSpPr txBox="1"/>
          <p:nvPr/>
        </p:nvSpPr>
        <p:spPr>
          <a:xfrm>
            <a:off x="109590" y="1074151"/>
            <a:ext cx="5358858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400">
                <a:latin typeface="Arial Narrow"/>
              </a:rPr>
              <a:t>An Activity defines: </a:t>
            </a:r>
          </a:p>
          <a:p>
            <a:pPr algn="l"/>
            <a:endParaRPr lang="en-US" sz="1400" dirty="0">
              <a:latin typeface="Arial Narrow"/>
            </a:endParaRPr>
          </a:p>
          <a:p>
            <a:pPr algn="l"/>
            <a:r>
              <a:rPr lang="en-US" sz="1400">
                <a:latin typeface="Arial Narrow"/>
              </a:rPr>
              <a:t>What tool to use  </a:t>
            </a:r>
          </a:p>
          <a:p>
            <a:pPr algn="l"/>
            <a:r>
              <a:rPr lang="en-US" sz="1400">
                <a:latin typeface="Arial Narrow"/>
              </a:rPr>
              <a:t>What input file to take</a:t>
            </a:r>
          </a:p>
          <a:p>
            <a:pPr algn="l"/>
            <a:r>
              <a:rPr lang="en-US" sz="1400" dirty="0">
                <a:latin typeface="Arial Narrow"/>
              </a:rPr>
              <a:t>What output file to generate  </a:t>
            </a:r>
          </a:p>
          <a:p>
            <a:pPr algn="l"/>
            <a:r>
              <a:rPr lang="en-US" sz="1400" dirty="0">
                <a:latin typeface="Arial Narrow"/>
              </a:rPr>
              <a:t>Which software version to run </a:t>
            </a:r>
          </a:p>
          <a:p>
            <a:pPr algn="l"/>
            <a:endParaRPr lang="en-US" sz="1400" dirty="0">
              <a:latin typeface="Arial Narrow"/>
            </a:endParaRPr>
          </a:p>
          <a:p>
            <a:pPr algn="l"/>
            <a:r>
              <a:rPr lang="en-US" sz="1400" dirty="0">
                <a:latin typeface="Arial Narrow"/>
              </a:rPr>
              <a:t>If </a:t>
            </a:r>
            <a:r>
              <a:rPr lang="en-US" sz="1400" dirty="0" err="1">
                <a:latin typeface="Arial Narrow"/>
              </a:rPr>
              <a:t>AppBundle</a:t>
            </a:r>
            <a:r>
              <a:rPr lang="en-US" sz="1400" dirty="0">
                <a:latin typeface="Arial Narrow"/>
              </a:rPr>
              <a:t> is the tool,</a:t>
            </a:r>
          </a:p>
          <a:p>
            <a:pPr algn="l"/>
            <a:r>
              <a:rPr lang="en-US" sz="1400">
                <a:latin typeface="Arial Narrow"/>
              </a:rPr>
              <a:t>then Activity is the instruction manual for how to use that tool.</a:t>
            </a:r>
            <a:endParaRPr lang="en-US" sz="1400">
              <a:solidFill>
                <a:srgbClr val="000000"/>
              </a:solidFill>
              <a:latin typeface="Arial Narrow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687944-571D-504E-3D97-BC58BF78F51A}"/>
              </a:ext>
            </a:extLst>
          </p:cNvPr>
          <p:cNvSpPr txBox="1"/>
          <p:nvPr/>
        </p:nvSpPr>
        <p:spPr>
          <a:xfrm>
            <a:off x="111958" y="3572560"/>
            <a:ext cx="5337423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400" dirty="0">
                <a:latin typeface="Arial Narrow"/>
              </a:rPr>
              <a:t>On the left: </a:t>
            </a:r>
            <a:endParaRPr lang="en-US" sz="1400">
              <a:solidFill>
                <a:srgbClr val="000000"/>
              </a:solidFill>
              <a:latin typeface="Arial Narrow"/>
            </a:endParaRPr>
          </a:p>
          <a:p>
            <a:pPr algn="l"/>
            <a:endParaRPr lang="en-US" sz="1400" dirty="0">
              <a:latin typeface="Arial Narrow"/>
            </a:endParaRPr>
          </a:p>
          <a:p>
            <a:pPr algn="l"/>
            <a:r>
              <a:rPr lang="en-US" sz="1400" dirty="0">
                <a:latin typeface="Arial Narrow"/>
              </a:rPr>
              <a:t>List of available Activities </a:t>
            </a:r>
          </a:p>
          <a:p>
            <a:pPr algn="l"/>
            <a:r>
              <a:rPr lang="en-US" sz="1400" dirty="0">
                <a:latin typeface="Arial Narrow"/>
              </a:rPr>
              <a:t>Example: </a:t>
            </a:r>
            <a:r>
              <a:rPr lang="en-US" sz="1400" dirty="0" err="1">
                <a:latin typeface="Arial Narrow"/>
              </a:rPr>
              <a:t>UpdateFamilyParameterActivity</a:t>
            </a:r>
            <a:endParaRPr lang="en-US" sz="1400" dirty="0">
              <a:latin typeface="Arial Narrow"/>
            </a:endParaRPr>
          </a:p>
          <a:p>
            <a:pPr algn="l"/>
            <a:endParaRPr lang="en-US" sz="1400" dirty="0">
              <a:latin typeface="Arial Narrow"/>
            </a:endParaRPr>
          </a:p>
          <a:p>
            <a:pPr algn="l"/>
            <a:r>
              <a:rPr lang="en-US" sz="1400">
                <a:latin typeface="Arial Narrow"/>
              </a:rPr>
              <a:t>On the right: </a:t>
            </a:r>
          </a:p>
          <a:p>
            <a:pPr algn="l"/>
            <a:r>
              <a:rPr lang="en-US" sz="1400">
                <a:latin typeface="Arial Narrow"/>
              </a:rPr>
              <a:t>Configuration details </a:t>
            </a:r>
            <a:endParaRPr lang="en-US" sz="1400" dirty="0">
              <a:latin typeface="Arial Narrow"/>
            </a:endParaRPr>
          </a:p>
          <a:p>
            <a:pPr algn="l"/>
            <a:r>
              <a:rPr lang="en-US" sz="1400" dirty="0">
                <a:latin typeface="Arial Narrow"/>
              </a:rPr>
              <a:t>Input file required </a:t>
            </a:r>
          </a:p>
          <a:p>
            <a:pPr algn="l"/>
            <a:r>
              <a:rPr lang="en-US" sz="1400">
                <a:latin typeface="Arial Narrow"/>
              </a:rPr>
              <a:t>Output file generated</a:t>
            </a:r>
            <a:endParaRPr lang="en-US" sz="1400" dirty="0">
              <a:latin typeface="Arial Narrow"/>
            </a:endParaRPr>
          </a:p>
          <a:p>
            <a:pPr algn="l"/>
            <a:r>
              <a:rPr lang="en-US" sz="1400">
                <a:latin typeface="Arial Narrow"/>
              </a:rPr>
              <a:t>Software </a:t>
            </a:r>
            <a:r>
              <a:rPr lang="en-US" sz="1400" dirty="0">
                <a:latin typeface="Arial Narrow"/>
              </a:rPr>
              <a:t>version (Revit 2024)</a:t>
            </a:r>
          </a:p>
        </p:txBody>
      </p:sp>
      <p:pic>
        <p:nvPicPr>
          <p:cNvPr id="8" name="Picture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0A71B9FD-24D6-272F-243F-22333634AD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6064" y="1419225"/>
            <a:ext cx="6308533" cy="4570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4962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4456F-A52F-5482-3F8E-D57E43323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t">
            <a:normAutofit/>
          </a:bodyPr>
          <a:lstStyle/>
          <a:p>
            <a:r>
              <a:rPr lang="en-US" dirty="0">
                <a:latin typeface="Lato"/>
                <a:ea typeface="Lato"/>
                <a:cs typeface="Lato"/>
              </a:rPr>
              <a:t>Executing </a:t>
            </a:r>
            <a:r>
              <a:rPr lang="en-US" dirty="0" err="1">
                <a:latin typeface="Lato"/>
                <a:ea typeface="Lato"/>
                <a:cs typeface="Lato"/>
              </a:rPr>
              <a:t>WorkItem</a:t>
            </a:r>
            <a:r>
              <a:rPr lang="en-US" dirty="0">
                <a:latin typeface="Lato"/>
                <a:ea typeface="Lato"/>
                <a:cs typeface="Lato"/>
              </a:rPr>
              <a:t>(Running Script)</a:t>
            </a:r>
            <a:endParaRPr lang="en-US" dirty="0"/>
          </a:p>
        </p:txBody>
      </p:sp>
      <p:pic>
        <p:nvPicPr>
          <p:cNvPr id="6" name="Picture 5" descr="A screenshot of a computer">
            <a:extLst>
              <a:ext uri="{FF2B5EF4-FFF2-40B4-BE49-F238E27FC236}">
                <a16:creationId xmlns:a16="http://schemas.microsoft.com/office/drawing/2014/main" id="{3D7CBAA5-072C-7358-7315-97DD0792AE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212" y="981075"/>
            <a:ext cx="10429875" cy="990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0FAF090-EA9F-9A25-AF70-8DAF8790AEC5}"/>
              </a:ext>
            </a:extLst>
          </p:cNvPr>
          <p:cNvSpPr txBox="1"/>
          <p:nvPr/>
        </p:nvSpPr>
        <p:spPr>
          <a:xfrm>
            <a:off x="214354" y="2086381"/>
            <a:ext cx="615196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400" dirty="0">
                <a:solidFill>
                  <a:srgbClr val="000000"/>
                </a:solidFill>
                <a:latin typeface="Arial Narrow"/>
              </a:rPr>
              <a:t>Create a bucket where</a:t>
            </a:r>
            <a:r>
              <a:rPr lang="en-US" sz="1400">
                <a:solidFill>
                  <a:srgbClr val="000000"/>
                </a:solidFill>
                <a:latin typeface="Arial Narrow"/>
              </a:rPr>
              <a:t> the files will be stored for processing</a:t>
            </a:r>
            <a:endParaRPr lang="en-US" sz="1400" dirty="0">
              <a:solidFill>
                <a:srgbClr val="000000"/>
              </a:solidFill>
              <a:latin typeface="Arial Narrow"/>
            </a:endParaRP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7797A22-CFD8-161B-F4C2-EB1740A9F7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52775"/>
            <a:ext cx="3695700" cy="16573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144B300-71C6-9FC8-4941-C26F094ED055}"/>
              </a:ext>
            </a:extLst>
          </p:cNvPr>
          <p:cNvSpPr txBox="1"/>
          <p:nvPr/>
        </p:nvSpPr>
        <p:spPr>
          <a:xfrm>
            <a:off x="300096" y="4944361"/>
            <a:ext cx="325104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400" dirty="0">
                <a:latin typeface="Arial Narrow"/>
              </a:rPr>
              <a:t>After creating bucket use this button to upload the </a:t>
            </a:r>
            <a:r>
              <a:rPr lang="en-US" sz="1400" dirty="0" err="1">
                <a:latin typeface="Arial Narrow"/>
              </a:rPr>
              <a:t>revit</a:t>
            </a:r>
            <a:r>
              <a:rPr lang="en-US" sz="1400" dirty="0">
                <a:latin typeface="Arial Narrow"/>
              </a:rPr>
              <a:t> file</a:t>
            </a:r>
            <a:endParaRPr lang="en-US" sz="1400">
              <a:solidFill>
                <a:srgbClr val="000000"/>
              </a:solidFill>
              <a:latin typeface="Arial Narrow"/>
            </a:endParaRPr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E9F5D74-1A71-11B1-C2B9-BB1307C84B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5165" y="2266950"/>
            <a:ext cx="5907119" cy="421957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C46FCC5-3C6D-3ED3-39CD-F3A46C555D52}"/>
              </a:ext>
            </a:extLst>
          </p:cNvPr>
          <p:cNvSpPr txBox="1"/>
          <p:nvPr/>
        </p:nvSpPr>
        <p:spPr>
          <a:xfrm>
            <a:off x="3743799" y="5701814"/>
            <a:ext cx="3436814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400">
                <a:latin typeface="Arial Narrow"/>
              </a:rPr>
              <a:t>Select your file to be Uploaded </a:t>
            </a:r>
            <a:endParaRPr lang="en-US" sz="1400">
              <a:solidFill>
                <a:srgbClr val="000000"/>
              </a:solidFill>
              <a:latin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2015581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5E6AC-9E1D-DD5A-5F76-A6DE35695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t">
            <a:normAutofit/>
          </a:bodyPr>
          <a:lstStyle/>
          <a:p>
            <a:r>
              <a:rPr lang="en-US">
                <a:latin typeface="Lato"/>
                <a:ea typeface="Lato"/>
                <a:cs typeface="Lato"/>
              </a:rPr>
              <a:t>Running Script</a:t>
            </a:r>
            <a:endParaRPr lang="en-US"/>
          </a:p>
        </p:txBody>
      </p:sp>
      <p:pic>
        <p:nvPicPr>
          <p:cNvPr id="6" name="Picture 5" descr="A screenshot of a chat">
            <a:extLst>
              <a:ext uri="{FF2B5EF4-FFF2-40B4-BE49-F238E27FC236}">
                <a16:creationId xmlns:a16="http://schemas.microsoft.com/office/drawing/2014/main" id="{E362CE1D-0ED9-F061-E9DD-CA67A91008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2083" y="1207512"/>
            <a:ext cx="7356764" cy="457286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679AD43-9073-DEF7-DD37-C5F4915C7D5D}"/>
              </a:ext>
            </a:extLst>
          </p:cNvPr>
          <p:cNvSpPr txBox="1"/>
          <p:nvPr/>
        </p:nvSpPr>
        <p:spPr>
          <a:xfrm>
            <a:off x="4303013" y="5992648"/>
            <a:ext cx="4115603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400">
                <a:latin typeface="Arial Narrow"/>
              </a:rPr>
              <a:t>Wait for the Script to be Executed</a:t>
            </a:r>
            <a:endParaRPr lang="en-US" sz="1400">
              <a:solidFill>
                <a:srgbClr val="000000"/>
              </a:solidFill>
              <a:latin typeface="Arial Narrow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112BDE-18E7-4430-FF76-DBA31944601A}"/>
              </a:ext>
            </a:extLst>
          </p:cNvPr>
          <p:cNvSpPr txBox="1"/>
          <p:nvPr/>
        </p:nvSpPr>
        <p:spPr>
          <a:xfrm>
            <a:off x="176282" y="1502843"/>
            <a:ext cx="3243895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400">
                <a:latin typeface="Arial Narrow"/>
              </a:rPr>
              <a:t>Why This is Powerful</a:t>
            </a:r>
            <a:endParaRPr lang="en-US" sz="1400">
              <a:solidFill>
                <a:srgbClr val="000000"/>
              </a:solidFill>
              <a:latin typeface="Arial Narrow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B5DD5C-73E8-F6BD-4263-24C682134072}"/>
              </a:ext>
            </a:extLst>
          </p:cNvPr>
          <p:cNvSpPr txBox="1"/>
          <p:nvPr/>
        </p:nvSpPr>
        <p:spPr>
          <a:xfrm>
            <a:off x="162025" y="2362601"/>
            <a:ext cx="3186734" cy="16004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400">
                <a:latin typeface="Arial Narrow"/>
              </a:rPr>
              <a:t>No need to open Revit manually </a:t>
            </a:r>
          </a:p>
          <a:p>
            <a:pPr algn="l"/>
            <a:endParaRPr lang="en-US" sz="1400" dirty="0">
              <a:latin typeface="Arial Narrow"/>
            </a:endParaRPr>
          </a:p>
          <a:p>
            <a:pPr algn="l"/>
            <a:r>
              <a:rPr lang="en-US" sz="1400" dirty="0">
                <a:latin typeface="Arial Narrow"/>
              </a:rPr>
              <a:t>No manual editing required </a:t>
            </a:r>
            <a:endParaRPr lang="en-US"/>
          </a:p>
          <a:p>
            <a:pPr algn="l"/>
            <a:endParaRPr lang="en-US" sz="1400" dirty="0">
              <a:latin typeface="Arial Narrow"/>
            </a:endParaRPr>
          </a:p>
          <a:p>
            <a:pPr algn="l"/>
            <a:r>
              <a:rPr lang="en-US" sz="1400">
                <a:latin typeface="Arial Narrow"/>
              </a:rPr>
              <a:t>Runs in the cloud Saves time</a:t>
            </a:r>
          </a:p>
          <a:p>
            <a:pPr algn="l"/>
            <a:endParaRPr lang="en-US" sz="1400" dirty="0">
              <a:latin typeface="Arial Narrow"/>
            </a:endParaRPr>
          </a:p>
          <a:p>
            <a:pPr algn="l"/>
            <a:r>
              <a:rPr lang="en-US" sz="1400">
                <a:latin typeface="Arial Narrow"/>
              </a:rPr>
              <a:t>Scalable (can run multiple jobs)</a:t>
            </a:r>
            <a:endParaRPr lang="en-US" sz="1400">
              <a:solidFill>
                <a:srgbClr val="000000"/>
              </a:solidFill>
              <a:latin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4918161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70A2E-6772-4D2C-7FAA-8CABF817C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t">
            <a:normAutofit/>
          </a:bodyPr>
          <a:lstStyle/>
          <a:p>
            <a:r>
              <a:rPr lang="en-US">
                <a:latin typeface="Lato"/>
                <a:ea typeface="Lato"/>
                <a:cs typeface="Lato"/>
              </a:rPr>
              <a:t>Executed Script </a:t>
            </a:r>
            <a:endParaRPr lang="en-US"/>
          </a:p>
        </p:txBody>
      </p:sp>
      <p:pic>
        <p:nvPicPr>
          <p:cNvPr id="6" name="Picture 5" descr="A screenshot of a computer">
            <a:extLst>
              <a:ext uri="{FF2B5EF4-FFF2-40B4-BE49-F238E27FC236}">
                <a16:creationId xmlns:a16="http://schemas.microsoft.com/office/drawing/2014/main" id="{1BF36042-B364-B255-4970-FC363D06ED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6903" y="1143000"/>
            <a:ext cx="6576919" cy="53530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C75C682-46B8-6F07-80FD-7D78E3799B1E}"/>
              </a:ext>
            </a:extLst>
          </p:cNvPr>
          <p:cNvSpPr txBox="1"/>
          <p:nvPr/>
        </p:nvSpPr>
        <p:spPr>
          <a:xfrm>
            <a:off x="5322268" y="836215"/>
            <a:ext cx="4087022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400" dirty="0">
                <a:solidFill>
                  <a:srgbClr val="000000"/>
                </a:solidFill>
                <a:latin typeface="Arial Narrow"/>
              </a:rPr>
              <a:t>Successful Execution of Scr</a:t>
            </a:r>
            <a:r>
              <a:rPr lang="en-US" sz="1400">
                <a:solidFill>
                  <a:srgbClr val="000000"/>
                </a:solidFill>
                <a:latin typeface="Arial Narrow"/>
              </a:rPr>
              <a:t>ipt</a:t>
            </a:r>
            <a:endParaRPr lang="en-US" sz="1400">
              <a:latin typeface="Arial Narrow"/>
            </a:endParaRPr>
          </a:p>
        </p:txBody>
      </p:sp>
      <p:pic>
        <p:nvPicPr>
          <p:cNvPr id="8" name="Picture 7" descr="A screenshot of a computer">
            <a:extLst>
              <a:ext uri="{FF2B5EF4-FFF2-40B4-BE49-F238E27FC236}">
                <a16:creationId xmlns:a16="http://schemas.microsoft.com/office/drawing/2014/main" id="{8257FDB5-E8F2-88CD-268B-4A7F07E93A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" y="1247775"/>
            <a:ext cx="3448050" cy="28575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639AA24-6058-3D72-0CC3-AE5E75BEBF8F}"/>
              </a:ext>
            </a:extLst>
          </p:cNvPr>
          <p:cNvSpPr txBox="1"/>
          <p:nvPr/>
        </p:nvSpPr>
        <p:spPr>
          <a:xfrm>
            <a:off x="345330" y="4341839"/>
            <a:ext cx="3451104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400" dirty="0">
                <a:latin typeface="Arial Narrow"/>
              </a:rPr>
              <a:t>Download your result file from </a:t>
            </a:r>
            <a:r>
              <a:rPr lang="en-US" sz="1400">
                <a:latin typeface="Arial Narrow"/>
              </a:rPr>
              <a:t>here </a:t>
            </a:r>
            <a:endParaRPr lang="en-US" sz="1400" dirty="0">
              <a:solidFill>
                <a:srgbClr val="000000"/>
              </a:solidFill>
              <a:latin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16754925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686550"/>
          </a:xfrm>
          <a:custGeom>
            <a:avLst/>
            <a:gdLst/>
            <a:ahLst/>
            <a:cxnLst/>
            <a:rect l="l" t="t" r="r" b="b"/>
            <a:pathLst>
              <a:path w="12192000" h="6686550">
                <a:moveTo>
                  <a:pt x="12192000" y="0"/>
                </a:moveTo>
                <a:lnTo>
                  <a:pt x="0" y="0"/>
                </a:lnTo>
                <a:lnTo>
                  <a:pt x="0" y="6686550"/>
                </a:lnTo>
                <a:lnTo>
                  <a:pt x="12192000" y="6686550"/>
                </a:lnTo>
                <a:lnTo>
                  <a:pt x="12192000" y="0"/>
                </a:lnTo>
                <a:close/>
              </a:path>
            </a:pathLst>
          </a:custGeom>
          <a:solidFill>
            <a:srgbClr val="4348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13067" y="1120076"/>
            <a:ext cx="4544695" cy="1032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6600" b="1" i="1" spc="-160">
                <a:solidFill>
                  <a:srgbClr val="ECB81D"/>
                </a:solidFill>
                <a:latin typeface="Trebuchet MS"/>
                <a:cs typeface="Trebuchet MS"/>
              </a:rPr>
              <a:t>THANK</a:t>
            </a:r>
            <a:r>
              <a:rPr sz="6600" b="1" i="1" spc="-590">
                <a:solidFill>
                  <a:srgbClr val="ECB81D"/>
                </a:solidFill>
                <a:latin typeface="Trebuchet MS"/>
                <a:cs typeface="Trebuchet MS"/>
              </a:rPr>
              <a:t> </a:t>
            </a:r>
            <a:r>
              <a:rPr sz="6600" b="1" i="1" spc="-65">
                <a:solidFill>
                  <a:srgbClr val="ECB81D"/>
                </a:solidFill>
                <a:latin typeface="Trebuchet MS"/>
                <a:cs typeface="Trebuchet MS"/>
              </a:rPr>
              <a:t>YOU</a:t>
            </a:r>
            <a:endParaRPr sz="66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25576" y="2007235"/>
            <a:ext cx="4514850" cy="19050"/>
          </a:xfrm>
          <a:custGeom>
            <a:avLst/>
            <a:gdLst/>
            <a:ahLst/>
            <a:cxnLst/>
            <a:rect l="l" t="t" r="r" b="b"/>
            <a:pathLst>
              <a:path w="4514850" h="19050">
                <a:moveTo>
                  <a:pt x="4514850" y="0"/>
                </a:moveTo>
                <a:lnTo>
                  <a:pt x="0" y="0"/>
                </a:lnTo>
                <a:lnTo>
                  <a:pt x="0" y="19050"/>
                </a:lnTo>
                <a:lnTo>
                  <a:pt x="4514850" y="19050"/>
                </a:lnTo>
                <a:lnTo>
                  <a:pt x="4514850" y="0"/>
                </a:lnTo>
                <a:close/>
              </a:path>
            </a:pathLst>
          </a:custGeom>
          <a:solidFill>
            <a:srgbClr val="ECB8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20700" y="3780091"/>
            <a:ext cx="6705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30">
                <a:solidFill>
                  <a:srgbClr val="ECB81D"/>
                </a:solidFill>
                <a:latin typeface="Tahoma"/>
                <a:cs typeface="Tahoma"/>
              </a:rPr>
              <a:t>INDIA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0700" y="4065561"/>
            <a:ext cx="2914650" cy="2374900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sz="1550" b="1" spc="-130">
                <a:solidFill>
                  <a:srgbClr val="FFFFFF"/>
                </a:solidFill>
                <a:latin typeface="Tahoma"/>
                <a:cs typeface="Tahoma"/>
              </a:rPr>
              <a:t>Intec</a:t>
            </a:r>
            <a:r>
              <a:rPr sz="1550" b="1" spc="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550" b="1" spc="-125">
                <a:solidFill>
                  <a:srgbClr val="FFFFFF"/>
                </a:solidFill>
                <a:latin typeface="Tahoma"/>
                <a:cs typeface="Tahoma"/>
              </a:rPr>
              <a:t>Infra-</a:t>
            </a:r>
            <a:r>
              <a:rPr sz="1550" b="1" spc="-95">
                <a:solidFill>
                  <a:srgbClr val="FFFFFF"/>
                </a:solidFill>
                <a:latin typeface="Tahoma"/>
                <a:cs typeface="Tahoma"/>
              </a:rPr>
              <a:t>Technologies</a:t>
            </a:r>
            <a:r>
              <a:rPr sz="1550" b="1" spc="-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550" b="1" spc="-45">
                <a:solidFill>
                  <a:srgbClr val="FFFFFF"/>
                </a:solidFill>
                <a:latin typeface="Tahoma"/>
                <a:cs typeface="Tahoma"/>
              </a:rPr>
              <a:t>Pvt</a:t>
            </a:r>
            <a:r>
              <a:rPr sz="1550" b="1" spc="-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550" b="1" spc="-25">
                <a:solidFill>
                  <a:srgbClr val="FFFFFF"/>
                </a:solidFill>
                <a:latin typeface="Tahoma"/>
                <a:cs typeface="Tahoma"/>
              </a:rPr>
              <a:t>Ltd</a:t>
            </a:r>
            <a:endParaRPr sz="15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19"/>
              </a:spcBef>
            </a:pPr>
            <a:r>
              <a:rPr sz="1400" b="1" spc="-85">
                <a:solidFill>
                  <a:srgbClr val="ECB81D"/>
                </a:solidFill>
                <a:latin typeface="Tahoma"/>
                <a:cs typeface="Tahoma"/>
              </a:rPr>
              <a:t>Delhi</a:t>
            </a:r>
            <a:r>
              <a:rPr sz="1400" b="1" spc="-80">
                <a:solidFill>
                  <a:srgbClr val="ECB81D"/>
                </a:solidFill>
                <a:latin typeface="Tahoma"/>
                <a:cs typeface="Tahoma"/>
              </a:rPr>
              <a:t> </a:t>
            </a:r>
            <a:r>
              <a:rPr sz="1400" b="1" spc="-35">
                <a:solidFill>
                  <a:srgbClr val="ECB81D"/>
                </a:solidFill>
                <a:latin typeface="Tahoma"/>
                <a:cs typeface="Tahoma"/>
              </a:rPr>
              <a:t>NCR</a:t>
            </a:r>
            <a:r>
              <a:rPr sz="1400" b="1" spc="-30">
                <a:solidFill>
                  <a:srgbClr val="ECB81D"/>
                </a:solidFill>
                <a:latin typeface="Tahoma"/>
                <a:cs typeface="Tahoma"/>
              </a:rPr>
              <a:t> </a:t>
            </a:r>
            <a:r>
              <a:rPr sz="1400" b="1" spc="-10">
                <a:solidFill>
                  <a:srgbClr val="ECB81D"/>
                </a:solidFill>
                <a:latin typeface="Tahoma"/>
                <a:cs typeface="Tahoma"/>
              </a:rPr>
              <a:t>Office</a:t>
            </a:r>
            <a:endParaRPr sz="1400">
              <a:latin typeface="Tahoma"/>
              <a:cs typeface="Tahoma"/>
            </a:endParaRPr>
          </a:p>
          <a:p>
            <a:pPr marL="12700" marR="5080">
              <a:lnSpc>
                <a:spcPct val="149500"/>
              </a:lnSpc>
              <a:spcBef>
                <a:spcPts val="60"/>
              </a:spcBef>
            </a:pPr>
            <a:r>
              <a:rPr sz="1200" spc="-25">
                <a:solidFill>
                  <a:srgbClr val="FFFFFF"/>
                </a:solidFill>
                <a:latin typeface="Tahoma"/>
                <a:cs typeface="Tahoma"/>
              </a:rPr>
              <a:t>Emaar</a:t>
            </a:r>
            <a:r>
              <a:rPr sz="1200" spc="-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>
                <a:solidFill>
                  <a:srgbClr val="FFFFFF"/>
                </a:solidFill>
                <a:latin typeface="Tahoma"/>
                <a:cs typeface="Tahoma"/>
              </a:rPr>
              <a:t>Digital</a:t>
            </a:r>
            <a:r>
              <a:rPr sz="1200" spc="-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20">
                <a:solidFill>
                  <a:srgbClr val="FFFFFF"/>
                </a:solidFill>
                <a:latin typeface="Tahoma"/>
                <a:cs typeface="Tahoma"/>
              </a:rPr>
              <a:t>Greens,</a:t>
            </a:r>
            <a:r>
              <a:rPr sz="1200" spc="-1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25">
                <a:solidFill>
                  <a:srgbClr val="FFFFFF"/>
                </a:solidFill>
                <a:latin typeface="Tahoma"/>
                <a:cs typeface="Tahoma"/>
              </a:rPr>
              <a:t>Tower</a:t>
            </a:r>
            <a:r>
              <a:rPr sz="1200" spc="-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>
                <a:solidFill>
                  <a:srgbClr val="FFFFFF"/>
                </a:solidFill>
                <a:latin typeface="Tahoma"/>
                <a:cs typeface="Tahoma"/>
              </a:rPr>
              <a:t>B,</a:t>
            </a:r>
            <a:r>
              <a:rPr sz="12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>
                <a:solidFill>
                  <a:srgbClr val="FFFFFF"/>
                </a:solidFill>
                <a:latin typeface="Tahoma"/>
                <a:cs typeface="Tahoma"/>
              </a:rPr>
              <a:t>14th</a:t>
            </a:r>
            <a:r>
              <a:rPr sz="1200" spc="-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10">
                <a:solidFill>
                  <a:srgbClr val="FFFFFF"/>
                </a:solidFill>
                <a:latin typeface="Tahoma"/>
                <a:cs typeface="Tahoma"/>
              </a:rPr>
              <a:t>Floor, </a:t>
            </a:r>
            <a:r>
              <a:rPr sz="1200">
                <a:solidFill>
                  <a:srgbClr val="FFFFFF"/>
                </a:solidFill>
                <a:latin typeface="Tahoma"/>
                <a:cs typeface="Tahoma"/>
              </a:rPr>
              <a:t>Golf</a:t>
            </a:r>
            <a:r>
              <a:rPr sz="1200" spc="-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>
                <a:solidFill>
                  <a:srgbClr val="FFFFFF"/>
                </a:solidFill>
                <a:latin typeface="Tahoma"/>
                <a:cs typeface="Tahoma"/>
              </a:rPr>
              <a:t>Course</a:t>
            </a:r>
            <a:r>
              <a:rPr sz="12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>
                <a:solidFill>
                  <a:srgbClr val="FFFFFF"/>
                </a:solidFill>
                <a:latin typeface="Tahoma"/>
                <a:cs typeface="Tahoma"/>
              </a:rPr>
              <a:t>Extn</a:t>
            </a:r>
            <a:r>
              <a:rPr sz="1200" spc="-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30">
                <a:solidFill>
                  <a:srgbClr val="FFFFFF"/>
                </a:solidFill>
                <a:latin typeface="Tahoma"/>
                <a:cs typeface="Tahoma"/>
              </a:rPr>
              <a:t>Road,</a:t>
            </a:r>
            <a:r>
              <a:rPr sz="1200" spc="-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>
                <a:solidFill>
                  <a:srgbClr val="FFFFFF"/>
                </a:solidFill>
                <a:latin typeface="Tahoma"/>
                <a:cs typeface="Tahoma"/>
              </a:rPr>
              <a:t>Sector</a:t>
            </a:r>
            <a:r>
              <a:rPr sz="1200" spc="-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25">
                <a:solidFill>
                  <a:srgbClr val="FFFFFF"/>
                </a:solidFill>
                <a:latin typeface="Tahoma"/>
                <a:cs typeface="Tahoma"/>
              </a:rPr>
              <a:t>61,</a:t>
            </a:r>
            <a:r>
              <a:rPr sz="1200" spc="5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>
                <a:solidFill>
                  <a:srgbClr val="FFFFFF"/>
                </a:solidFill>
                <a:latin typeface="Tahoma"/>
                <a:cs typeface="Tahoma"/>
              </a:rPr>
              <a:t>Gurgaon</a:t>
            </a:r>
            <a:r>
              <a:rPr sz="1200" spc="-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>
                <a:solidFill>
                  <a:srgbClr val="FFFFFF"/>
                </a:solidFill>
                <a:latin typeface="Tahoma"/>
                <a:cs typeface="Tahoma"/>
              </a:rPr>
              <a:t>–</a:t>
            </a:r>
            <a:r>
              <a:rPr sz="1200" spc="-1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>
                <a:solidFill>
                  <a:srgbClr val="FFFFFF"/>
                </a:solidFill>
                <a:latin typeface="Tahoma"/>
                <a:cs typeface="Tahoma"/>
              </a:rPr>
              <a:t>122098,</a:t>
            </a:r>
            <a:r>
              <a:rPr sz="1200" spc="-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>
                <a:solidFill>
                  <a:srgbClr val="FFFFFF"/>
                </a:solidFill>
                <a:latin typeface="Tahoma"/>
                <a:cs typeface="Tahoma"/>
              </a:rPr>
              <a:t>(NCR</a:t>
            </a:r>
            <a:r>
              <a:rPr sz="1200" spc="-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60">
                <a:solidFill>
                  <a:srgbClr val="FFFFFF"/>
                </a:solidFill>
                <a:latin typeface="Tahoma"/>
                <a:cs typeface="Tahoma"/>
              </a:rPr>
              <a:t>New</a:t>
            </a:r>
            <a:r>
              <a:rPr sz="1200" spc="-8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25">
                <a:solidFill>
                  <a:srgbClr val="FFFFFF"/>
                </a:solidFill>
                <a:latin typeface="Tahoma"/>
                <a:cs typeface="Tahoma"/>
              </a:rPr>
              <a:t>Delhi),</a:t>
            </a:r>
            <a:r>
              <a:rPr sz="12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20">
                <a:solidFill>
                  <a:srgbClr val="FFFFFF"/>
                </a:solidFill>
                <a:latin typeface="Tahoma"/>
                <a:cs typeface="Tahoma"/>
              </a:rPr>
              <a:t>India </a:t>
            </a:r>
            <a:r>
              <a:rPr sz="1200" b="1" spc="-80">
                <a:solidFill>
                  <a:srgbClr val="ECB81D"/>
                </a:solidFill>
                <a:latin typeface="Tahoma"/>
                <a:cs typeface="Tahoma"/>
              </a:rPr>
              <a:t>T</a:t>
            </a:r>
            <a:r>
              <a:rPr sz="1200" spc="-80">
                <a:solidFill>
                  <a:srgbClr val="FFFFFF"/>
                </a:solidFill>
                <a:latin typeface="Tahoma"/>
                <a:cs typeface="Tahoma"/>
              </a:rPr>
              <a:t>:</a:t>
            </a:r>
            <a:r>
              <a:rPr sz="1200" spc="11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25">
                <a:solidFill>
                  <a:srgbClr val="FFFFFF"/>
                </a:solidFill>
                <a:latin typeface="Tahoma"/>
                <a:cs typeface="Tahoma"/>
              </a:rPr>
              <a:t>+91-</a:t>
            </a:r>
            <a:r>
              <a:rPr sz="1200">
                <a:solidFill>
                  <a:srgbClr val="FFFFFF"/>
                </a:solidFill>
                <a:latin typeface="Tahoma"/>
                <a:cs typeface="Tahoma"/>
              </a:rPr>
              <a:t>124-</a:t>
            </a:r>
            <a:r>
              <a:rPr sz="1200" spc="35">
                <a:solidFill>
                  <a:srgbClr val="FFFFFF"/>
                </a:solidFill>
                <a:latin typeface="Tahoma"/>
                <a:cs typeface="Tahoma"/>
              </a:rPr>
              <a:t>4687900</a:t>
            </a:r>
            <a:endParaRPr sz="1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1200" b="1" spc="-95">
                <a:solidFill>
                  <a:srgbClr val="ECB81D"/>
                </a:solidFill>
                <a:latin typeface="Tahoma"/>
                <a:cs typeface="Tahoma"/>
              </a:rPr>
              <a:t>E</a:t>
            </a:r>
            <a:r>
              <a:rPr sz="1200" spc="-95">
                <a:solidFill>
                  <a:srgbClr val="FFFFFF"/>
                </a:solidFill>
                <a:latin typeface="Tahoma"/>
                <a:cs typeface="Tahoma"/>
              </a:rPr>
              <a:t>:</a:t>
            </a:r>
            <a:r>
              <a:rPr sz="1200" spc="-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10">
                <a:solidFill>
                  <a:srgbClr val="FFFFFF"/>
                </a:solidFill>
                <a:latin typeface="Tahoma"/>
                <a:cs typeface="Tahoma"/>
                <a:hlinkClick r:id="rId2"/>
              </a:rPr>
              <a:t>inquiry@intecinfra.com</a:t>
            </a:r>
            <a:endParaRPr sz="1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sz="1200" b="1" spc="-60">
                <a:solidFill>
                  <a:srgbClr val="ECB81D"/>
                </a:solidFill>
                <a:latin typeface="Tahoma"/>
                <a:cs typeface="Tahoma"/>
              </a:rPr>
              <a:t>W</a:t>
            </a:r>
            <a:r>
              <a:rPr sz="1200" spc="-60">
                <a:solidFill>
                  <a:srgbClr val="FFFFFF"/>
                </a:solidFill>
                <a:latin typeface="Tahoma"/>
                <a:cs typeface="Tahoma"/>
              </a:rPr>
              <a:t>:</a:t>
            </a:r>
            <a:r>
              <a:rPr sz="1200" spc="-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10">
                <a:solidFill>
                  <a:srgbClr val="FFFFFF"/>
                </a:solidFill>
                <a:latin typeface="Tahoma"/>
                <a:cs typeface="Tahoma"/>
                <a:hlinkClick r:id="rId3"/>
              </a:rPr>
              <a:t>www.intecinfra.com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076950" y="3771328"/>
            <a:ext cx="480059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30">
                <a:solidFill>
                  <a:srgbClr val="ECB81D"/>
                </a:solidFill>
                <a:latin typeface="Tahoma"/>
                <a:cs typeface="Tahoma"/>
              </a:rPr>
              <a:t>USA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76950" y="4057473"/>
            <a:ext cx="1998345" cy="237426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226695">
              <a:lnSpc>
                <a:spcPct val="147700"/>
              </a:lnSpc>
              <a:spcBef>
                <a:spcPts val="215"/>
              </a:spcBef>
            </a:pPr>
            <a:r>
              <a:rPr sz="1550" b="1" spc="-125">
                <a:solidFill>
                  <a:srgbClr val="FFFFFF"/>
                </a:solidFill>
                <a:latin typeface="Tahoma"/>
                <a:cs typeface="Tahoma"/>
              </a:rPr>
              <a:t>Intec</a:t>
            </a:r>
            <a:r>
              <a:rPr sz="1550" b="1" spc="-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550" b="1" spc="-85">
                <a:solidFill>
                  <a:srgbClr val="FFFFFF"/>
                </a:solidFill>
                <a:latin typeface="Tahoma"/>
                <a:cs typeface="Tahoma"/>
              </a:rPr>
              <a:t>Americas,</a:t>
            </a:r>
            <a:r>
              <a:rPr sz="1550" b="1" spc="-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550" b="1" spc="-114">
                <a:solidFill>
                  <a:srgbClr val="FFFFFF"/>
                </a:solidFill>
                <a:latin typeface="Tahoma"/>
                <a:cs typeface="Tahoma"/>
              </a:rPr>
              <a:t>Inc. </a:t>
            </a:r>
            <a:r>
              <a:rPr sz="1400" b="1" spc="-85">
                <a:solidFill>
                  <a:srgbClr val="ECB81D"/>
                </a:solidFill>
                <a:latin typeface="Tahoma"/>
                <a:cs typeface="Tahoma"/>
              </a:rPr>
              <a:t>New</a:t>
            </a:r>
            <a:r>
              <a:rPr sz="1400" b="1" spc="-114">
                <a:solidFill>
                  <a:srgbClr val="ECB81D"/>
                </a:solidFill>
                <a:latin typeface="Tahoma"/>
                <a:cs typeface="Tahoma"/>
              </a:rPr>
              <a:t> </a:t>
            </a:r>
            <a:r>
              <a:rPr sz="1400" b="1" spc="-130">
                <a:solidFill>
                  <a:srgbClr val="ECB81D"/>
                </a:solidFill>
                <a:latin typeface="Tahoma"/>
                <a:cs typeface="Tahoma"/>
              </a:rPr>
              <a:t>York</a:t>
            </a:r>
            <a:r>
              <a:rPr sz="1400" b="1" spc="-15">
                <a:solidFill>
                  <a:srgbClr val="ECB81D"/>
                </a:solidFill>
                <a:latin typeface="Tahoma"/>
                <a:cs typeface="Tahoma"/>
              </a:rPr>
              <a:t> </a:t>
            </a:r>
            <a:r>
              <a:rPr sz="1400" b="1" spc="-10">
                <a:solidFill>
                  <a:srgbClr val="ECB81D"/>
                </a:solidFill>
                <a:latin typeface="Tahoma"/>
                <a:cs typeface="Tahoma"/>
              </a:rPr>
              <a:t>Office </a:t>
            </a:r>
            <a:r>
              <a:rPr sz="1200">
                <a:solidFill>
                  <a:srgbClr val="FFFFFF"/>
                </a:solidFill>
                <a:latin typeface="Tahoma"/>
                <a:cs typeface="Tahoma"/>
              </a:rPr>
              <a:t>Bryant</a:t>
            </a:r>
            <a:r>
              <a:rPr sz="1200" spc="-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>
                <a:solidFill>
                  <a:srgbClr val="FFFFFF"/>
                </a:solidFill>
                <a:latin typeface="Tahoma"/>
                <a:cs typeface="Tahoma"/>
              </a:rPr>
              <a:t>Park</a:t>
            </a:r>
            <a:r>
              <a:rPr sz="1200" spc="-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20">
                <a:solidFill>
                  <a:srgbClr val="FFFFFF"/>
                </a:solidFill>
                <a:latin typeface="Tahoma"/>
                <a:cs typeface="Tahoma"/>
              </a:rPr>
              <a:t>104,</a:t>
            </a:r>
            <a:endParaRPr sz="1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1200">
                <a:solidFill>
                  <a:srgbClr val="FFFFFF"/>
                </a:solidFill>
                <a:latin typeface="Tahoma"/>
                <a:cs typeface="Tahoma"/>
              </a:rPr>
              <a:t>West</a:t>
            </a:r>
            <a:r>
              <a:rPr sz="1200" spc="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>
                <a:solidFill>
                  <a:srgbClr val="FFFFFF"/>
                </a:solidFill>
                <a:latin typeface="Tahoma"/>
                <a:cs typeface="Tahoma"/>
              </a:rPr>
              <a:t>40th</a:t>
            </a:r>
            <a:r>
              <a:rPr sz="1200" spc="-10">
                <a:solidFill>
                  <a:srgbClr val="FFFFFF"/>
                </a:solidFill>
                <a:latin typeface="Tahoma"/>
                <a:cs typeface="Tahoma"/>
              </a:rPr>
              <a:t> Street</a:t>
            </a:r>
            <a:r>
              <a:rPr sz="12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>
                <a:solidFill>
                  <a:srgbClr val="FFFFFF"/>
                </a:solidFill>
                <a:latin typeface="Tahoma"/>
                <a:cs typeface="Tahoma"/>
              </a:rPr>
              <a:t>5th</a:t>
            </a:r>
            <a:r>
              <a:rPr sz="1200" spc="-10">
                <a:solidFill>
                  <a:srgbClr val="FFFFFF"/>
                </a:solidFill>
                <a:latin typeface="Tahoma"/>
                <a:cs typeface="Tahoma"/>
              </a:rPr>
              <a:t> Floor,</a:t>
            </a:r>
            <a:endParaRPr sz="1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1200">
                <a:solidFill>
                  <a:srgbClr val="FFFFFF"/>
                </a:solidFill>
                <a:latin typeface="Tahoma"/>
                <a:cs typeface="Tahoma"/>
              </a:rPr>
              <a:t>New</a:t>
            </a:r>
            <a:r>
              <a:rPr sz="1200" spc="-9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35">
                <a:solidFill>
                  <a:srgbClr val="FFFFFF"/>
                </a:solidFill>
                <a:latin typeface="Tahoma"/>
                <a:cs typeface="Tahoma"/>
              </a:rPr>
              <a:t>York,</a:t>
            </a:r>
            <a:r>
              <a:rPr sz="1200" spc="-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75">
                <a:solidFill>
                  <a:srgbClr val="FFFFFF"/>
                </a:solidFill>
                <a:latin typeface="Tahoma"/>
                <a:cs typeface="Tahoma"/>
              </a:rPr>
              <a:t>NY</a:t>
            </a:r>
            <a:r>
              <a:rPr sz="1200" spc="-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20">
                <a:solidFill>
                  <a:srgbClr val="FFFFFF"/>
                </a:solidFill>
                <a:latin typeface="Tahoma"/>
                <a:cs typeface="Tahoma"/>
              </a:rPr>
              <a:t>10018</a:t>
            </a:r>
            <a:endParaRPr sz="1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1200" b="1" spc="-75">
                <a:solidFill>
                  <a:srgbClr val="ECB81D"/>
                </a:solidFill>
                <a:latin typeface="Tahoma"/>
                <a:cs typeface="Tahoma"/>
              </a:rPr>
              <a:t>T</a:t>
            </a:r>
            <a:r>
              <a:rPr sz="1200" spc="-75">
                <a:solidFill>
                  <a:srgbClr val="FFFFFF"/>
                </a:solidFill>
                <a:latin typeface="Tahoma"/>
                <a:cs typeface="Tahoma"/>
              </a:rPr>
              <a:t>:</a:t>
            </a:r>
            <a:r>
              <a:rPr sz="1200" spc="-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70">
                <a:solidFill>
                  <a:srgbClr val="FFFFFF"/>
                </a:solidFill>
                <a:latin typeface="Tahoma"/>
                <a:cs typeface="Tahoma"/>
              </a:rPr>
              <a:t>+1</a:t>
            </a:r>
            <a:r>
              <a:rPr sz="1200" spc="-30">
                <a:solidFill>
                  <a:srgbClr val="FFFFFF"/>
                </a:solidFill>
                <a:latin typeface="Tahoma"/>
                <a:cs typeface="Tahoma"/>
              </a:rPr>
              <a:t> (646)</a:t>
            </a:r>
            <a:r>
              <a:rPr sz="1200" spc="-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50">
                <a:solidFill>
                  <a:srgbClr val="FFFFFF"/>
                </a:solidFill>
                <a:latin typeface="Tahoma"/>
                <a:cs typeface="Tahoma"/>
              </a:rPr>
              <a:t>952</a:t>
            </a:r>
            <a:r>
              <a:rPr sz="1200" spc="-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>
                <a:solidFill>
                  <a:srgbClr val="FFFFFF"/>
                </a:solidFill>
                <a:latin typeface="Tahoma"/>
                <a:cs typeface="Tahoma"/>
              </a:rPr>
              <a:t>8827</a:t>
            </a:r>
            <a:r>
              <a:rPr sz="1200" spc="-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75">
                <a:solidFill>
                  <a:srgbClr val="FFFFFF"/>
                </a:solidFill>
                <a:latin typeface="Tahoma"/>
                <a:cs typeface="Tahoma"/>
              </a:rPr>
              <a:t>X</a:t>
            </a:r>
            <a:r>
              <a:rPr sz="1200" spc="-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20">
                <a:solidFill>
                  <a:srgbClr val="FFFFFF"/>
                </a:solidFill>
                <a:latin typeface="Tahoma"/>
                <a:cs typeface="Tahoma"/>
              </a:rPr>
              <a:t>8827</a:t>
            </a:r>
            <a:endParaRPr sz="1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sz="1200" b="1" spc="-95">
                <a:solidFill>
                  <a:srgbClr val="ECB81D"/>
                </a:solidFill>
                <a:latin typeface="Tahoma"/>
                <a:cs typeface="Tahoma"/>
              </a:rPr>
              <a:t>E</a:t>
            </a:r>
            <a:r>
              <a:rPr sz="1200" spc="-95">
                <a:solidFill>
                  <a:srgbClr val="FFFFFF"/>
                </a:solidFill>
                <a:latin typeface="Tahoma"/>
                <a:cs typeface="Tahoma"/>
              </a:rPr>
              <a:t>:</a:t>
            </a:r>
            <a:r>
              <a:rPr sz="1200" spc="-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10">
                <a:solidFill>
                  <a:srgbClr val="FFFFFF"/>
                </a:solidFill>
                <a:latin typeface="Tahoma"/>
                <a:cs typeface="Tahoma"/>
                <a:hlinkClick r:id="rId4"/>
              </a:rPr>
              <a:t>inquiry@intecamericas.us</a:t>
            </a:r>
            <a:endParaRPr sz="1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1200" b="1">
                <a:solidFill>
                  <a:srgbClr val="ECB81D"/>
                </a:solidFill>
                <a:latin typeface="Tahoma"/>
                <a:cs typeface="Tahoma"/>
              </a:rPr>
              <a:t>W</a:t>
            </a:r>
            <a:r>
              <a:rPr sz="1200">
                <a:solidFill>
                  <a:srgbClr val="FFFFFF"/>
                </a:solidFill>
                <a:latin typeface="Tahoma"/>
                <a:cs typeface="Tahoma"/>
              </a:rPr>
              <a:t>:</a:t>
            </a:r>
            <a:r>
              <a:rPr sz="1200" spc="10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10">
                <a:solidFill>
                  <a:srgbClr val="FFFFFF"/>
                </a:solidFill>
                <a:latin typeface="Tahoma"/>
                <a:cs typeface="Tahoma"/>
                <a:hlinkClick r:id="rId5"/>
              </a:rPr>
              <a:t>www.intecamericas.us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33400" y="0"/>
            <a:ext cx="11658600" cy="4152900"/>
            <a:chOff x="533400" y="0"/>
            <a:chExt cx="11658600" cy="4152900"/>
          </a:xfrm>
        </p:grpSpPr>
        <p:sp>
          <p:nvSpPr>
            <p:cNvPr id="10" name="object 10"/>
            <p:cNvSpPr/>
            <p:nvPr/>
          </p:nvSpPr>
          <p:spPr>
            <a:xfrm>
              <a:off x="533400" y="4143375"/>
              <a:ext cx="10162540" cy="0"/>
            </a:xfrm>
            <a:custGeom>
              <a:avLst/>
              <a:gdLst/>
              <a:ahLst/>
              <a:cxnLst/>
              <a:rect l="l" t="t" r="r" b="b"/>
              <a:pathLst>
                <a:path w="10162540">
                  <a:moveTo>
                    <a:pt x="0" y="0"/>
                  </a:moveTo>
                  <a:lnTo>
                    <a:pt x="3327400" y="0"/>
                  </a:lnTo>
                </a:path>
                <a:path w="10162540">
                  <a:moveTo>
                    <a:pt x="5572125" y="0"/>
                  </a:moveTo>
                  <a:lnTo>
                    <a:pt x="10162413" y="0"/>
                  </a:lnTo>
                </a:path>
              </a:pathLst>
            </a:custGeom>
            <a:ln w="19050">
              <a:solidFill>
                <a:srgbClr val="ECB81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258050" y="0"/>
              <a:ext cx="4933950" cy="292417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33400" y="2819400"/>
              <a:ext cx="2009775" cy="695325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9138919" y="4476383"/>
            <a:ext cx="1891030" cy="1470025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0"/>
              </a:spcBef>
            </a:pPr>
            <a:r>
              <a:rPr sz="1400" b="1" spc="-95">
                <a:solidFill>
                  <a:srgbClr val="ECB81D"/>
                </a:solidFill>
                <a:latin typeface="Tahoma"/>
                <a:cs typeface="Tahoma"/>
              </a:rPr>
              <a:t>Maryland</a:t>
            </a:r>
            <a:r>
              <a:rPr sz="1400" b="1" spc="45">
                <a:solidFill>
                  <a:srgbClr val="ECB81D"/>
                </a:solidFill>
                <a:latin typeface="Tahoma"/>
                <a:cs typeface="Tahoma"/>
              </a:rPr>
              <a:t> </a:t>
            </a:r>
            <a:r>
              <a:rPr sz="1400" b="1" spc="-10">
                <a:solidFill>
                  <a:srgbClr val="ECB81D"/>
                </a:solidFill>
                <a:latin typeface="Tahoma"/>
                <a:cs typeface="Tahoma"/>
              </a:rPr>
              <a:t>Office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1200">
                <a:solidFill>
                  <a:srgbClr val="FFFFFF"/>
                </a:solidFill>
                <a:latin typeface="Tahoma"/>
                <a:cs typeface="Tahoma"/>
              </a:rPr>
              <a:t>13011</a:t>
            </a:r>
            <a:r>
              <a:rPr sz="1200" spc="11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>
                <a:solidFill>
                  <a:srgbClr val="FFFFFF"/>
                </a:solidFill>
                <a:latin typeface="Tahoma"/>
                <a:cs typeface="Tahoma"/>
              </a:rPr>
              <a:t>Boswell</a:t>
            </a:r>
            <a:r>
              <a:rPr sz="1200" spc="8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10">
                <a:solidFill>
                  <a:srgbClr val="FFFFFF"/>
                </a:solidFill>
                <a:latin typeface="Tahoma"/>
                <a:cs typeface="Tahoma"/>
              </a:rPr>
              <a:t>Court,</a:t>
            </a:r>
            <a:endParaRPr sz="1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1200" spc="-10">
                <a:solidFill>
                  <a:srgbClr val="FFFFFF"/>
                </a:solidFill>
                <a:latin typeface="Tahoma"/>
                <a:cs typeface="Tahoma"/>
              </a:rPr>
              <a:t>Potomac,</a:t>
            </a:r>
            <a:r>
              <a:rPr sz="1200" spc="-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105">
                <a:solidFill>
                  <a:srgbClr val="FFFFFF"/>
                </a:solidFill>
                <a:latin typeface="Tahoma"/>
                <a:cs typeface="Tahoma"/>
              </a:rPr>
              <a:t>MD</a:t>
            </a:r>
            <a:r>
              <a:rPr sz="1200" spc="-1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20">
                <a:solidFill>
                  <a:srgbClr val="FFFFFF"/>
                </a:solidFill>
                <a:latin typeface="Tahoma"/>
                <a:cs typeface="Tahoma"/>
              </a:rPr>
              <a:t>20854</a:t>
            </a:r>
            <a:endParaRPr sz="1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sz="1200" b="1" spc="-95">
                <a:solidFill>
                  <a:srgbClr val="ECB81D"/>
                </a:solidFill>
                <a:latin typeface="Tahoma"/>
                <a:cs typeface="Tahoma"/>
              </a:rPr>
              <a:t>E</a:t>
            </a:r>
            <a:r>
              <a:rPr sz="1200" spc="-95">
                <a:solidFill>
                  <a:srgbClr val="FFFFFF"/>
                </a:solidFill>
                <a:latin typeface="Tahoma"/>
                <a:cs typeface="Tahoma"/>
              </a:rPr>
              <a:t>:</a:t>
            </a:r>
            <a:r>
              <a:rPr sz="1200" spc="-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10">
                <a:solidFill>
                  <a:srgbClr val="FFFFFF"/>
                </a:solidFill>
                <a:latin typeface="Tahoma"/>
                <a:cs typeface="Tahoma"/>
                <a:hlinkClick r:id="rId4"/>
              </a:rPr>
              <a:t>inquiry@intecamericas.us</a:t>
            </a:r>
            <a:endParaRPr sz="1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1200" b="1">
                <a:solidFill>
                  <a:srgbClr val="ECB81D"/>
                </a:solidFill>
                <a:latin typeface="Tahoma"/>
                <a:cs typeface="Tahoma"/>
              </a:rPr>
              <a:t>W</a:t>
            </a:r>
            <a:r>
              <a:rPr sz="1200">
                <a:solidFill>
                  <a:srgbClr val="FFFFFF"/>
                </a:solidFill>
                <a:latin typeface="Tahoma"/>
                <a:cs typeface="Tahoma"/>
              </a:rPr>
              <a:t>:</a:t>
            </a:r>
            <a:r>
              <a:rPr sz="1200" spc="1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10">
                <a:solidFill>
                  <a:srgbClr val="FFFFFF"/>
                </a:solidFill>
                <a:latin typeface="Tahoma"/>
                <a:cs typeface="Tahoma"/>
                <a:hlinkClick r:id="rId5"/>
              </a:rPr>
              <a:t>www.intecamericas.us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719306" y="6434454"/>
            <a:ext cx="1968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>
                <a:solidFill>
                  <a:srgbClr val="767676"/>
                </a:solidFill>
                <a:latin typeface="Tahoma"/>
                <a:cs typeface="Tahoma"/>
              </a:rPr>
              <a:t>13</a:t>
            </a:r>
            <a:endParaRPr sz="1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Design Automation Tools </vt:lpstr>
      <vt:lpstr>Secure Login &amp; Authentication</vt:lpstr>
      <vt:lpstr>Selecting Automation Script (AppBundles)</vt:lpstr>
      <vt:lpstr>Activity – Defining How the Automation Runs</vt:lpstr>
      <vt:lpstr>Executing WorkItem(Running Script)</vt:lpstr>
      <vt:lpstr>Running Script</vt:lpstr>
      <vt:lpstr>Executed Script 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342</cp:revision>
  <dcterms:created xsi:type="dcterms:W3CDTF">2026-02-11T03:39:40Z</dcterms:created>
  <dcterms:modified xsi:type="dcterms:W3CDTF">2026-03-02T03:38:11Z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2026-02-05T00:00:00Z</vt:filetime>
  </property>
  <property fmtid="{D5CDD505-2E9C-101B-9397-08002B2CF9AE}" pid="3" name="LastSaved">
    <vt:filetime>2026-02-11T00:00:00Z</vt:filetime>
  </property>
</Properties>
</file>